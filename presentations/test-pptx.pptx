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hand-off from Mike. His 2×2 proves low use isn’t automatically good and high use isn’t automatically bad. Hold that thought — the rest of the talk is about the measurement that tells these quadrants apart: disease context and therapeutic outcome.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Regimens tie to what actually happens to an animal, unlike defined-constant or weight-based metrics. The decomposition is Mike’s — I’m taking his third term (regimens per disease event) and, next, adding what the regimen achieved.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pivot of the talk. Everything before was infrastructure. The question a caretaker actually asks is binary and human: did this animal get better?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mutually exclusive states over a fixed window. The two window lengths are choices, and the app exposes them so you can test sensitivity. Keep “relapse” and “died” in mind — they’re about to behave very differently.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Credibility slide for the skeptics (Ivanek, Apley). We’re not improvising — human infectious-disease trials reached the same conclusion. DOOR was first proposed by Evans et al. 2015 (CID; a 2023 correction fixed one confidence interval, not the concept). The version I lean on is the 2024 “Moving Beyond Mortality” paper (CID; free on PMC10874265), which builds a 5-tier rank — alive/no-events down to death — and applies it to two real pneumonia trials (ZEPHyR, VITAL). Our within-farm Success/Relapse/ Sold/Died profile is the production analog.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Paper 1 is the origin. The framing gift here is the competing-risks critique: days-of-therapy looks </a:t>
            </a:r>
            <a:r>
              <a:rPr i="1"/>
              <a:t>better</a:t>
            </a:r>
            <a:r>
              <a:rPr/>
              <a:t> when the patient dies. That is exactly why a use metric alone can’t be the scoreboard — and it’s an argument from human medicine, not from me.</a:t>
            </a:r>
          </a:p>
          <a:p>
            <a:pPr lvl="0" indent="0" marL="0">
              <a:buNone/>
            </a:pPr>
          </a:p>
          <a:p>
            <a:pPr lvl="0" indent="0" marL="0">
              <a:buNone/>
            </a:pPr>
            <a:r>
              <a:rPr/>
              <a:t>RADAR’s tie-break rule is the one to say out loud: clinical outcome trumps duration of use. A patient with a worse outcome can never out-rank a patient with a better one, no matter how little antibiotic they got. That is Mike’s line in statistical form — less use is better, but never at the expense of the patient.</a:t>
            </a:r>
          </a:p>
          <a:p>
            <a:pPr lvl="0" indent="0" marL="0">
              <a:buNone/>
            </a:pPr>
          </a:p>
          <a:p>
            <a:pPr lvl="0" indent="0" marL="0">
              <a:buNone/>
            </a:pPr>
            <a:r>
              <a:rPr/>
              <a:t>The pull-quote is the philosophical heart, and it’s how I’d defend our four-category outcome to a statistician: we’re not tracking four endpoints, we’re issuing one verdict per animal.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one-page erratum and I include it deliberately — it’s the most useful slide in the set for how we should behave.</a:t>
            </a:r>
          </a:p>
          <a:p>
            <a:pPr lvl="0" indent="0" marL="0">
              <a:buNone/>
            </a:pPr>
          </a:p>
          <a:p>
            <a:pPr lvl="0" indent="0" marL="0">
              <a:buNone/>
            </a:pPr>
            <a:r>
              <a:rPr/>
              <a:t>What changed: the point estimate, 64.8%, stands. The 95% interval went from 57–71% to 43–82%, because the original never specified how it was estimated. The corrected interval crosses 50, which means the illustration never demonstrated a difference at all.</a:t>
            </a:r>
          </a:p>
          <a:p>
            <a:pPr lvl="0" indent="0" marL="0">
              <a:buNone/>
            </a:pPr>
          </a:p>
          <a:p>
            <a:pPr lvl="0" indent="0" marL="0">
              <a:buNone/>
            </a:pPr>
            <a:r>
              <a:rPr/>
              <a:t>Two takeaways for this room. First, this is science working — the authors published a correction on their own method. Second, and this is the one that matters for us: rank-based outcome measures on small numbers produce wide intervals. Our farm-level denominators are small. When we look at one quarter’s success rate on one farm, we are in exactly this territory. That’s the statistical argument for trending over targeting — and it’s why the next slides are about direction, not thresholds.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Paper 3 is the one that earns its place, because it does our argument for us — in human medicine, in a registrational trial, in CID.</a:t>
            </a:r>
          </a:p>
          <a:p>
            <a:pPr lvl="0" indent="0" marL="0">
              <a:buNone/>
            </a:pPr>
          </a:p>
          <a:p>
            <a:pPr lvl="0" indent="0" marL="0">
              <a:buNone/>
            </a:pPr>
            <a:r>
              <a:rPr/>
              <a:t>Setup first: FDA guidance allows 14- or 28-day all-cause mortality as the primary endpoint for these trials. FNIH and CTTI both said mortality alone is too blunt. So this group built the rank — alive with no events at the top, death at the bottom, graded by how many bad things happened along the way — and applied it retrospectively to ZEPHyR and VITAL.</a:t>
            </a:r>
          </a:p>
          <a:p>
            <a:pPr lvl="0" indent="0" marL="0">
              <a:buNone/>
            </a:pPr>
          </a:p>
          <a:p>
            <a:pPr lvl="0" indent="0" marL="0">
              <a:buNone/>
            </a:pPr>
            <a:r>
              <a:rPr/>
              <a:t>Now the punchline, and I want to say it slowly. Both trials came back with a DOOR probability of about 50 — no difference. If you stopped there, you’d call the drugs interchangeable. Break VITAL into its components and tedizolid is </a:t>
            </a:r>
            <a:r>
              <a:rPr i="1"/>
              <a:t>worse</a:t>
            </a:r>
            <a:r>
              <a:rPr/>
              <a:t> on clinical response and </a:t>
            </a:r>
            <a:r>
              <a:rPr i="1"/>
              <a:t>better</a:t>
            </a:r>
            <a:r>
              <a:rPr/>
              <a:t> on safety. Two real, opposite signals, averaging into a number that says nothing happened.</a:t>
            </a:r>
          </a:p>
          <a:p>
            <a:pPr lvl="0" indent="0" marL="0">
              <a:buNone/>
            </a:pPr>
          </a:p>
          <a:p>
            <a:pPr lvl="0" indent="0" marL="0">
              <a:buNone/>
            </a:pPr>
            <a:r>
              <a:rPr/>
              <a:t>That is precisely my next slide, in people instead of cattle. Their composite hid a real difference; our 66% success hides whether a farm is losing animals or re-treating them. Same failure, same fix: decompose.</a:t>
            </a:r>
          </a:p>
          <a:p>
            <a:pPr lvl="0" indent="0" marL="0">
              <a:buNone/>
            </a:pPr>
          </a:p>
          <a:p>
            <a:pPr lvl="0" indent="0" marL="0">
              <a:buNone/>
            </a:pPr>
            <a:r>
              <a:rPr/>
              <a:t>And ZEPHyR runs the same trick in reverse — worth having ready if the room engages. The original trial concluded linezolid was </a:t>
            </a:r>
            <a:r>
              <a:rPr i="1"/>
              <a:t>superior</a:t>
            </a:r>
            <a:r>
              <a:rPr/>
              <a:t> to vancomycin for MRSA pneumonia. Under DOOR, that advantage disappears: the efficacy gain was offset by non-significant increases in infectious complications, SAEs, and death. The authors say plainly it could change prescribing. So the whole-course view doesn’t just find differences a single number hides — it also </a:t>
            </a:r>
            <a:r>
              <a:rPr b="1"/>
              <a:t>dissolves differences a single number manufactures.</a:t>
            </a:r>
            <a:r>
              <a:rPr/>
              <a:t> Both directions, same lesson: the number you choose decides the answer you get.</a:t>
            </a:r>
          </a:p>
          <a:p>
            <a:pPr lvl="0" indent="0" marL="0">
              <a:buNone/>
            </a:pPr>
          </a:p>
          <a:p>
            <a:pPr lvl="0" indent="0" marL="0">
              <a:buNone/>
            </a:pPr>
            <a:r>
              <a:rPr/>
              <a:t>Weighting comes next slide.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discussion slide — I’d rather ask it than answer it.</a:t>
            </a:r>
          </a:p>
          <a:p>
            <a:pPr lvl="0" indent="0" marL="0">
              <a:buNone/>
            </a:pPr>
          </a:p>
          <a:p>
            <a:pPr lvl="0" indent="0" marL="0">
              <a:buNone/>
            </a:pPr>
            <a:r>
              <a:rPr/>
              <a:t>The mechanic: score the ranks like a test. Alive with no events is 100, death is 0, and everything in between is worth whatever the person grading thinks it’s worth, as long as you don’t invert the order. The authors’ point is that this is a </a:t>
            </a:r>
            <a:r>
              <a:rPr i="1"/>
              <a:t>values</a:t>
            </a:r>
            <a:r>
              <a:rPr/>
              <a:t> question wearing a statistician’s coat. Whether one complication is a minor detour or a disaster depends on who you ask — so let them say.</a:t>
            </a:r>
          </a:p>
          <a:p>
            <a:pPr lvl="0" indent="0" marL="0">
              <a:buNone/>
            </a:pPr>
          </a:p>
          <a:p>
            <a:pPr lvl="0" indent="0" marL="0">
              <a:buNone/>
            </a:pPr>
            <a:r>
              <a:rPr/>
              <a:t>Note the scores on this slide are mine, for illustration; the paper used three hypothetical keys and found no difference between arms under any of them. In a real prospective trial you’d have to prespecify the key, or you’re just picking the answer you like.</a:t>
            </a:r>
          </a:p>
          <a:p>
            <a:pPr lvl="0" indent="0" marL="0">
              <a:buNone/>
            </a:pPr>
          </a:p>
          <a:p>
            <a:pPr lvl="0" indent="0" marL="0">
              <a:buNone/>
            </a:pPr>
            <a:r>
              <a:rPr/>
              <a:t>Why this matters for us: it’s the honest reason we do </a:t>
            </a:r>
            <a:r>
              <a:rPr b="1"/>
              <a:t>not</a:t>
            </a:r>
            <a:r>
              <a:rPr/>
              <a:t> collapse Success / Relapse / Sold / Died into one index. The moment you do, you have silently imposed your weighting on every producer who reads it. A cow-calf operation and a commercial yard genuinely should not weigh a sale the same way. Show the profile, let them bring the values.</a:t>
            </a:r>
          </a:p>
          <a:p>
            <a:pPr lvl="0" indent="0" marL="0">
              <a:buNone/>
            </a:pPr>
          </a:p>
          <a:p>
            <a:pPr lvl="0" indent="0" marL="0">
              <a:buNone/>
            </a:pPr>
            <a:r>
              <a:rPr/>
              <a:t>If the room wants to argue about this — good. That’s the argument worth having, and it’s the one that decides whether a number is trusted or ignored.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heart of the talk. Two farms, identical headline success. One is losing animals; the other is re-treating and culling. The single number would call them equal. Decompose it and the action is completely different.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Pre-empts the obvious critique of the retreatment example. Retreatment behavior is sensitive to the eligibility window; a rising relapse rate can mean a shortened effective PTI or a protocol change, not drug failure. And switching drugs on relapse is tied to resistance — a first thread toward Bruce.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I’d put money on for generating discussion, because it tells the room that our messiest category was a known problem in human trials before we ever built the app.</a:t>
            </a:r>
          </a:p>
          <a:p>
            <a:pPr lvl="0" indent="0" marL="0">
              <a:buNone/>
            </a:pPr>
          </a:p>
          <a:p>
            <a:pPr lvl="0" indent="0" marL="0">
              <a:buNone/>
            </a:pPr>
            <a:r>
              <a:rPr/>
              <a:t>Read the quote slowly — it rewards it. A patient switching therapy is evidence of failure, but it is not the same thing as failure, because a human being made that call. The moment your endpoint contains a clinician decision, you are measuring the clinician as well as the patient.</a:t>
            </a:r>
          </a:p>
          <a:p>
            <a:pPr lvl="0" indent="0" marL="0">
              <a:buNone/>
            </a:pPr>
          </a:p>
          <a:p>
            <a:pPr lvl="0" indent="0" marL="0">
              <a:buNone/>
            </a:pPr>
            <a:r>
              <a:rPr/>
              <a:t>That is our relapse category exactly. When I said earlier that a 3-day post-treatment interval manufactures failures, this is the formal version: shorten the window and the retreatment rate climbs while not one animal’s biology has changed. We are partly measuring protocol.</a:t>
            </a:r>
          </a:p>
          <a:p>
            <a:pPr lvl="0" indent="0" marL="0">
              <a:buNone/>
            </a:pPr>
          </a:p>
          <a:p>
            <a:pPr lvl="0" indent="0" marL="0">
              <a:buNone/>
            </a:pPr>
            <a:r>
              <a:rPr/>
              <a:t>Their prescription is the one we followed without knowing it — standardize the decision criteria. That’s what the 7-day and 30-day windows are. Fix them, publish them, hold them constant, and </a:t>
            </a:r>
            <a:r>
              <a:rPr i="1"/>
              <a:t>then</a:t>
            </a:r>
            <a:r>
              <a:rPr/>
              <a:t> the trend means something.</a:t>
            </a:r>
          </a:p>
          <a:p>
            <a:pPr lvl="0" indent="0" marL="0">
              <a:buNone/>
            </a:pPr>
          </a:p>
          <a:p>
            <a:pPr lvl="0" indent="0" marL="0">
              <a:buNone/>
            </a:pPr>
            <a:r>
              <a:rPr/>
              <a:t>The honest concession, if pushed: this doesn’t eliminate the clinician, it just holds them still. Which is why relapse is the flag that starts a conversation, never the number that ends one.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Setup for the next slide, and a fair-minded one.</a:t>
            </a:r>
          </a:p>
          <a:p>
            <a:pPr lvl="0" indent="0" marL="0">
              <a:buNone/>
            </a:pPr>
          </a:p>
          <a:p>
            <a:pPr lvl="0" indent="0" marL="0">
              <a:buNone/>
            </a:pPr>
            <a:r>
              <a:rPr/>
              <a:t>The finding: split VITAL by renal function and the drugs trade places. Good kidney function, linezolid looks better. Kidney disease, tedizolid looks better — consistent with what’s already known about linezolid and thrombocytopenia in renal impairment, which is why the authors take it at all seriously.</a:t>
            </a:r>
          </a:p>
          <a:p>
            <a:pPr lvl="0" indent="0" marL="0">
              <a:buNone/>
            </a:pPr>
          </a:p>
          <a:p>
            <a:pPr lvl="0" indent="0" marL="0">
              <a:buNone/>
            </a:pPr>
            <a:r>
              <a:rPr/>
              <a:t>Now the part I want to model for this room, because it’s the posture I’m asking everyone to adopt. The authors immediately flagged their own finding: small numbers, lots of subgroups, treat it as </a:t>
            </a:r>
            <a:r>
              <a:rPr b="1"/>
              <a:t>hypothesis generating</a:t>
            </a:r>
            <a:r>
              <a:rPr/>
              <a:t>. They did not turn it into a rule. I’m quoting directions, not point estimates, on purpose — the intervals are in their Figure 4 and they are wide.</a:t>
            </a:r>
          </a:p>
          <a:p>
            <a:pPr lvl="0" indent="0" marL="0">
              <a:buNone/>
            </a:pPr>
          </a:p>
          <a:p>
            <a:pPr lvl="0" indent="0" marL="0">
              <a:buNone/>
            </a:pPr>
            <a:r>
              <a:rPr/>
              <a:t>That restraint is the whole argument. Context doesn’t deliver a target; it tells you which question is worth asking. A subgroup finding says “look here,” not “do this.” Which is exactly what I’m about to ask you to do with a farm’s success trend — let it raise </a:t>
            </a:r>
            <a:r>
              <a:rPr i="1"/>
              <a:t>“why is…?”</a:t>
            </a:r>
            <a:r>
              <a:rPr/>
              <a:t>, not </a:t>
            </a:r>
            <a:r>
              <a:rPr i="1"/>
              <a:t>“above or below the line.”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direct answer to Goodhart from earlier. We don’t set a target and police it. We trend it in context and let it raise questions. The 7-point success drop only means something once you see the quintile bands and the disease-pressure collapse next to it.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Bring it home to welfare. Outcomes let us drive appropriate use directly, because we can see whether use improved the animal’s fate. The three trends are the scoreboard.</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Raw feedyard data → the ICASA pipeline → an anonymized handoff (the deliberate break that protects producers) → three apps → the public site. My work lives in the middle app; it’s what makes the use metrics interpretable and the economics meaningful.</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Handle Bruce generously. Validate the ARG question — it’s important and he’s right it’s under-measured. Then place it: resistance is a state measurement, method-dependent and contested; outcomes are the actionable, welfare-anchored layer that give resistance data meaning. Our own metaphylaxis paper shows use, health, and resistance don’t move together simply. Then hand the floor to Bruce and Ken for how poultry measures outcomes.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Leave-behind slide — this is the one to linger on if people are photographing, and the one to skip entirely if I’m running long.</a:t>
            </a:r>
          </a:p>
          <a:p>
            <a:pPr lvl="0" indent="0" marL="0">
              <a:buNone/>
            </a:pPr>
          </a:p>
          <a:p>
            <a:pPr lvl="0" indent="0" marL="0">
              <a:buNone/>
            </a:pPr>
            <a:r>
              <a:rPr/>
              <a:t>The two worth actually reading are Evans 2015 for the concept and Howard-Anderson 2024 for what it looks like applied; the 2024 one is free on PMC. The correction is one page and I’d still hand it to anyone building a metric, for the reason I gave earlier.</a:t>
            </a:r>
          </a:p>
          <a:p>
            <a:pPr lvl="0" indent="0" marL="0">
              <a:buNone/>
            </a:pPr>
          </a:p>
          <a:p>
            <a:pPr lvl="0" indent="0" marL="0">
              <a:buNone/>
            </a:pPr>
            <a:r>
              <a:rPr/>
              <a:t>The GWU web app is the genuine “go do something” item — it’s free, it’s from the ARLG, and it will run a full DOOR analysis including partial credit. If anyone in this room is designing a trial, that’s their starting point. They’re also building a sample-size and power tool into it.</a:t>
            </a:r>
          </a:p>
          <a:p>
            <a:pPr lvl="0" indent="0" marL="0">
              <a:buNone/>
            </a:pPr>
          </a:p>
          <a:p>
            <a:pPr lvl="0" indent="0" marL="0">
              <a:buNone/>
            </a:pPr>
            <a:r>
              <a:rPr/>
              <a:t>Then the bridge back to us: ICASA_Disease is the same idea in cattle, and the windows are yours to set. If someone wants to test whether our outcome definitions survive their assumptions, that’s where they do it — and I’d genuinely like them to try.</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Land the thesis in one sentence, then hand off. Thank Mike for the setup, thank the room, cue Bruce.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on motivation, not data. We didn’t start with a resistance agenda — we started from respect for a tool that works, and a desire to keep it working. That framing keeps the room (industry + regulators) with us. Mike’s line is the anchor: stewardship that means withholding effective treatment is a non-starter.</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methods.bsc.gwu.edu" TargetMode="Externa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Bovine Therapeutic Outcomes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Are they really needed? How do we calculate them?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Picking up where Mike left off</a:t>
            </a:r>
          </a:p>
        </p:txBody>
      </p:sp>
      <p:sp>
        <p:nvSpPr>
          <p:cNvPr id="3" name="Content Placeholder 2"/>
          <p:cNvSpPr>
            <a:spLocks noGrp="1"/>
          </p:cNvSpPr>
          <p:nvPr>
            <p:ph idx="1" sz="half"/>
          </p:nvPr>
        </p:nvSpPr>
        <p:spPr/>
        <p:txBody>
          <a:bodyPr/>
          <a:lstStyle/>
          <a:p>
            <a:pPr lvl="0" indent="0" marL="0">
              <a:buNone/>
            </a:pPr>
            <a:r>
              <a:rPr/>
              <a:t>Mike just showed us:</a:t>
            </a:r>
          </a:p>
          <a:p>
            <a:pPr lvl="0"/>
            <a:r>
              <a:rPr/>
              <a:t>Monitoring, metrics, standardization</a:t>
            </a:r>
          </a:p>
          <a:p>
            <a:pPr lvl="0"/>
            <a:r>
              <a:rPr/>
              <a:t>That a single number — or a </a:t>
            </a:r>
            <a:r>
              <a:rPr b="1"/>
              <a:t>target</a:t>
            </a:r>
            <a:r>
              <a:rPr/>
              <a:t> — can mislead</a:t>
            </a:r>
          </a:p>
          <a:p>
            <a:pPr lvl="0"/>
            <a:r>
              <a:rPr b="1"/>
              <a:t>Granularity matters</a:t>
            </a:r>
            <a:r>
              <a:rPr/>
              <a:t> (his 2×2)</a:t>
            </a:r>
          </a:p>
          <a:p>
            <a:pPr lvl="0" indent="0" marL="1270000">
              <a:buNone/>
            </a:pPr>
            <a:r>
              <a:rPr sz="2000"/>
              <a:t>When a measure becomes a target, it ceases to be a good measure.</a:t>
            </a:r>
          </a:p>
          <a:p>
            <a:pPr lvl="0" indent="0" marL="0">
              <a:buNone/>
            </a:pPr>
            <a:r>
              <a:rPr/>
              <a:t>— Goodhart / Strathern</a:t>
            </a:r>
          </a:p>
        </p:txBody>
      </p:sp>
      <p:sp>
        <p:nvSpPr>
          <p:cNvPr id="4" name="Content Placeholder 3"/>
          <p:cNvSpPr>
            <a:spLocks noGrp="1"/>
          </p:cNvSpPr>
          <p:nvPr>
            <p:ph idx="2" sz="half"/>
          </p:nvPr>
        </p:nvSpPr>
        <p:spPr/>
        <p:txBody>
          <a:bodyPr/>
          <a:lstStyle/>
          <a:p>
            <a:pPr lvl="0" indent="0" marL="0">
              <a:buNone/>
            </a:pPr>
            <a:r>
              <a:rPr/>
              <a:t>Same </a:t>
            </a:r>
            <a:r>
              <a:rPr i="1"/>
              <a:t>use</a:t>
            </a:r>
            <a:r>
              <a:rPr/>
              <a:t> level splits into good </a:t>
            </a:r>
            <a:r>
              <a:rPr b="1"/>
              <a:t>and</a:t>
            </a:r>
            <a:r>
              <a:rPr/>
              <a:t> bad — you can’t tell which without context.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Step 1 — to measure use, we needed disease context</a:t>
            </a:r>
          </a:p>
        </p:txBody>
      </p:sp>
      <p:sp>
        <p:nvSpPr>
          <p:cNvPr id="3" name="Content Placeholder 2"/>
          <p:cNvSpPr>
            <a:spLocks noGrp="1"/>
          </p:cNvSpPr>
          <p:nvPr>
            <p:ph idx="1"/>
          </p:nvPr>
        </p:nvSpPr>
        <p:spPr/>
        <p:txBody>
          <a:bodyPr/>
          <a:lstStyle/>
          <a:p>
            <a:pPr lvl="0" indent="0" marL="0">
              <a:buNone/>
            </a:pPr>
            <a:r>
              <a:rPr/>
              <a:t>Regimens became our favored AMU metric — a </a:t>
            </a:r>
            <a:r>
              <a:rPr b="1"/>
              <a:t>well-defined relationship to disease and to reality</a:t>
            </a:r>
            <a:r>
              <a:rPr/>
              <a:t> (dose × duration × indication).</a:t>
            </a:r>
          </a:p>
          <a:p>
            <a:pPr lvl="0" indent="0" marL="0">
              <a:buNone/>
            </a:pPr>
            <a:r>
              <a:rPr/>
              <a:t>Total Regimens =  Disease Incidence × Regimens per case</a:t>
            </a:r>
          </a:p>
          <a:p>
            <a:pPr lvl="0"/>
            <a:r>
              <a:rPr b="1"/>
              <a:t>The importance of capturing disease data</a:t>
            </a:r>
            <a:r>
              <a:rPr/>
              <a:t> — you can’t read use without it</a:t>
            </a:r>
          </a:p>
          <a:p>
            <a:pPr lvl="0"/>
            <a:r>
              <a:rPr/>
              <a:t>What changes when disease incidence goes from </a:t>
            </a:r>
            <a:r>
              <a:rPr i="1"/>
              <a:t>diagnosed</a:t>
            </a:r>
            <a:r>
              <a:rPr/>
              <a:t> → </a:t>
            </a:r>
            <a:r>
              <a:rPr i="1"/>
              <a:t>anticipated</a:t>
            </a:r>
            <a:r>
              <a:rPr/>
              <a:t>?</a:t>
            </a:r>
          </a:p>
          <a:p>
            <a:pPr lvl="0" indent="0" marL="0">
              <a:buNone/>
            </a:pPr>
            <a:r>
              <a:rPr/>
              <a:t>Building on M. Apley’s regimen decomposition · Schrag et al., dairy AMU quantification, Part 1 (2020)</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Step 2 — but the real question is</a:t>
            </a:r>
          </a:p>
        </p:txBody>
      </p:sp>
      <p:sp>
        <p:nvSpPr>
          <p:cNvPr id="3" name="Content Placeholder 2"/>
          <p:cNvSpPr>
            <a:spLocks noGrp="1"/>
          </p:cNvSpPr>
          <p:nvPr>
            <p:ph idx="1"/>
          </p:nvPr>
        </p:nvSpPr>
        <p:spPr/>
        <p:txBody>
          <a:bodyPr/>
          <a:lstStyle/>
          <a:p>
            <a:pPr lvl="0" indent="0" marL="0">
              <a:buNone/>
            </a:pPr>
            <a:r>
              <a:rPr/>
              <a:t>Did the drug work?</a:t>
            </a:r>
          </a:p>
          <a:p>
            <a:pPr lvl="0" indent="0" marL="0">
              <a:buNone/>
            </a:pPr>
          </a:p>
          <a:p>
            <a:pPr lvl="0" indent="0" marL="0">
              <a:buNone/>
            </a:pPr>
            <a:r>
              <a:rPr/>
              <a:t>Measuring use was the </a:t>
            </a:r>
            <a:r>
              <a:rPr i="1"/>
              <a:t>means</a:t>
            </a:r>
            <a:r>
              <a:rPr/>
              <a:t>. The </a:t>
            </a:r>
            <a:r>
              <a:rPr b="1"/>
              <a:t>therapeutic outcome</a:t>
            </a:r>
            <a:r>
              <a:rPr/>
              <a:t> is the end — and the only thing that tells us whether a treatment earned its place.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How we define an outcome</a:t>
            </a:r>
          </a:p>
        </p:txBody>
      </p:sp>
      <p:sp>
        <p:nvSpPr>
          <p:cNvPr id="3" name="Content Placeholder 2"/>
          <p:cNvSpPr>
            <a:spLocks noGrp="1"/>
          </p:cNvSpPr>
          <p:nvPr>
            <p:ph idx="1"/>
          </p:nvPr>
        </p:nvSpPr>
        <p:spPr/>
        <p:txBody>
          <a:bodyPr/>
          <a:lstStyle/>
          <a:p>
            <a:pPr lvl="0" indent="0" marL="0">
              <a:buNone/>
            </a:pPr>
            <a:r>
              <a:rPr/>
              <a:t>This is exactly what the </a:t>
            </a:r>
            <a:r>
              <a:rPr b="1"/>
              <a:t>ICASA_Disease</a:t>
            </a:r>
            <a:r>
              <a:rPr/>
              <a:t> app computes — you set the 7-day and 30-day windows yourself. · Schrag et al. 2022</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We’re not alone — this is where the science is going</a:t>
            </a:r>
          </a:p>
        </p:txBody>
      </p:sp>
      <p:sp>
        <p:nvSpPr>
          <p:cNvPr id="3" name="Content Placeholder 2"/>
          <p:cNvSpPr>
            <a:spLocks noGrp="1"/>
          </p:cNvSpPr>
          <p:nvPr>
            <p:ph idx="1" sz="half"/>
          </p:nvPr>
        </p:nvSpPr>
        <p:spPr/>
        <p:txBody>
          <a:bodyPr/>
          <a:lstStyle/>
          <a:p>
            <a:pPr lvl="0" indent="0" marL="0">
              <a:buNone/>
            </a:pPr>
            <a:r>
              <a:rPr b="1"/>
              <a:t>Human medicine</a:t>
            </a:r>
          </a:p>
          <a:p>
            <a:pPr lvl="0" indent="0" marL="0">
              <a:buNone/>
            </a:pPr>
            <a:r>
              <a:rPr/>
              <a:t>microbiological cure → composite endpoint → </a:t>
            </a:r>
            <a:r>
              <a:rPr b="1"/>
              <a:t>DOOR</a:t>
            </a:r>
          </a:p>
          <a:p>
            <a:pPr lvl="0" indent="0" marL="0">
              <a:buNone/>
            </a:pPr>
            <a:r>
              <a:rPr/>
              <a:t>One ordinal rank for the </a:t>
            </a:r>
            <a:r>
              <a:rPr i="1"/>
              <a:t>whole</a:t>
            </a:r>
            <a:r>
              <a:rPr/>
              <a:t> clinical course — best = </a:t>
            </a:r>
            <a:r>
              <a:rPr b="1"/>
              <a:t>alive, no complications</a:t>
            </a:r>
            <a:r>
              <a:rPr/>
              <a:t>; worst = </a:t>
            </a:r>
            <a:r>
              <a:rPr b="1"/>
              <a:t>death</a:t>
            </a:r>
            <a:r>
              <a:rPr/>
              <a:t> — combining efficacy </a:t>
            </a:r>
            <a:r>
              <a:rPr b="1"/>
              <a:t>and</a:t>
            </a:r>
            <a:r>
              <a:rPr/>
              <a:t> harms. </a:t>
            </a:r>
            <a:r>
              <a:rPr i="1"/>
              <a:t>“Moving beyond mortality.”</a:t>
            </a:r>
          </a:p>
        </p:txBody>
      </p:sp>
      <p:sp>
        <p:nvSpPr>
          <p:cNvPr id="4" name="Content Placeholder 3"/>
          <p:cNvSpPr>
            <a:spLocks noGrp="1"/>
          </p:cNvSpPr>
          <p:nvPr>
            <p:ph idx="2" sz="half"/>
          </p:nvPr>
        </p:nvSpPr>
        <p:spPr/>
        <p:txBody>
          <a:bodyPr/>
          <a:lstStyle/>
          <a:p>
            <a:pPr lvl="0" indent="0" marL="0">
              <a:buNone/>
            </a:pPr>
            <a:r>
              <a:rPr b="1"/>
              <a:t>Cattle</a:t>
            </a:r>
          </a:p>
          <a:p>
            <a:pPr lvl="0" indent="0" marL="0">
              <a:buNone/>
            </a:pPr>
            <a:r>
              <a:rPr/>
              <a:t>clinical &amp; bacteriological cure · FTS · case-fatality · relapse · chronic</a:t>
            </a:r>
          </a:p>
          <a:p>
            <a:pPr lvl="0" indent="0" marL="0">
              <a:buNone/>
            </a:pPr>
            <a:r>
              <a:rPr/>
              <a:t>mastitis review </a:t>
            </a:r>
            <a:r>
              <a:rPr i="1"/>
              <a:t>“What is success?”</a:t>
            </a:r>
            <a:r>
              <a:rPr/>
              <a:t> — bacteriological cure ranges </a:t>
            </a:r>
            <a:r>
              <a:rPr b="1"/>
              <a:t>27–95%</a:t>
            </a:r>
            <a:r>
              <a:rPr/>
              <a:t> across studies and doesn’t predict clinical outcome.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Both fields converged on the same answer: </a:t>
            </a:r>
            <a:r>
              <a:rPr b="1"/>
              <a:t>multi-dimensional, whole-course outcomes</a:t>
            </a:r>
            <a:r>
              <a:rPr/>
              <a:t> — because a single endpoint distorts.</a:t>
            </a:r>
          </a:p>
          <a:p>
            <a:pPr lvl="0" indent="0" marL="0">
              <a:buNone/>
            </a:pPr>
            <a:r>
              <a:rPr/>
              <a:t>DOOR endpoint — </a:t>
            </a:r>
            <a:r>
              <a:rPr i="1"/>
              <a:t>“Moving Beyond Mortality,”</a:t>
            </a:r>
            <a:r>
              <a:rPr/>
              <a:t> Clin Infect Dis 2024; first proposed by Evans et al. 2015. Mastitis review 2021.</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Where DOOR came from</a:t>
            </a:r>
          </a:p>
        </p:txBody>
      </p:sp>
      <p:sp>
        <p:nvSpPr>
          <p:cNvPr id="3" name="Content Placeholder 2"/>
          <p:cNvSpPr>
            <a:spLocks noGrp="1"/>
          </p:cNvSpPr>
          <p:nvPr>
            <p:ph idx="1"/>
          </p:nvPr>
        </p:nvSpPr>
        <p:spPr/>
        <p:txBody>
          <a:bodyPr/>
          <a:lstStyle/>
          <a:p>
            <a:pPr lvl="0" indent="0" marL="0">
              <a:buNone/>
            </a:pPr>
            <a:r>
              <a:rPr/>
              <a:t>Paper 1 · Evans et al. 2015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The problem they named</a:t>
            </a:r>
          </a:p>
          <a:p>
            <a:pPr lvl="0"/>
            <a:r>
              <a:rPr/>
              <a:t>Competing risks </a:t>
            </a:r>
            <a:r>
              <a:rPr b="1"/>
              <a:t>distort</a:t>
            </a:r>
            <a:r>
              <a:rPr/>
              <a:t> use metrics — days-of-therapy falls if the patient dies</a:t>
            </a:r>
          </a:p>
          <a:p>
            <a:pPr lvl="0"/>
            <a:r>
              <a:rPr/>
              <a:t>Benefits and harms analyzed </a:t>
            </a:r>
            <a:r>
              <a:rPr b="1"/>
              <a:t>separately</a:t>
            </a:r>
            <a:r>
              <a:rPr/>
              <a:t>, so no patient is ever seen whole</a:t>
            </a:r>
          </a:p>
          <a:p>
            <a:pPr lvl="0"/>
            <a:r>
              <a:rPr/>
              <a:t>Non-inferiority designs reward </a:t>
            </a:r>
            <a:r>
              <a:rPr b="1"/>
              <a:t>blurring</a:t>
            </a:r>
            <a:r>
              <a:rPr/>
              <a:t> the difference</a:t>
            </a:r>
          </a:p>
          <a:p>
            <a:pPr lvl="0" indent="0" marL="0">
              <a:buNone/>
            </a:pPr>
            <a:r>
              <a:rPr b="1"/>
              <a:t>The fix: rank the whole course</a:t>
            </a:r>
          </a:p>
          <a:p>
            <a:pPr lvl="0"/>
            <a:r>
              <a:rPr b="1"/>
              <a:t>DOOR</a:t>
            </a:r>
            <a:r>
              <a:rPr/>
              <a:t> — every participant gets one ordinal rank for their entire clinical experience</a:t>
            </a:r>
          </a:p>
          <a:p>
            <a:pPr lvl="0"/>
            <a:r>
              <a:rPr b="1"/>
              <a:t>RADAR</a:t>
            </a:r>
            <a:r>
              <a:rPr/>
              <a:t> — DOOR for use strategies: rank on outcome first, then break ties by </a:t>
            </a:r>
            <a:r>
              <a:rPr i="1"/>
              <a:t>shorter</a:t>
            </a:r>
            <a:r>
              <a:rPr/>
              <a:t> antibiotic duration</a:t>
            </a:r>
          </a:p>
        </p:txBody>
      </p:sp>
      <p:sp>
        <p:nvSpPr>
          <p:cNvPr id="4" name="Content Placeholder 3"/>
          <p:cNvSpPr>
            <a:spLocks noGrp="1"/>
          </p:cNvSpPr>
          <p:nvPr>
            <p:ph idx="2" sz="half"/>
          </p:nvPr>
        </p:nvSpPr>
        <p:spPr/>
        <p:txBody>
          <a:bodyPr/>
          <a:lstStyle/>
          <a:p>
            <a:pPr lvl="0" indent="0" marL="0">
              <a:buNone/>
            </a:pPr>
            <a:r>
              <a:rPr/>
              <a:t>Their generic 5-level overall clinical outcome — mutually exclusive, ordered by desirability.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 us:</a:t>
            </a:r>
            <a:r>
              <a:rPr/>
              <a:t> </a:t>
            </a:r>
            <a:r>
              <a:rPr i="1"/>
              <a:t>“Outcomes are used to analyze patients, rather than using patients to analyze outcomes.”</a:t>
            </a:r>
            <a:r>
              <a:rPr/>
              <a:t> Success / Relapse / Sold / Died is the same move — one ordered verdict per animal.</a:t>
            </a:r>
          </a:p>
          <a:p>
            <a:pPr lvl="0" indent="0" marL="0">
              <a:buNone/>
            </a:pPr>
            <a:r>
              <a:rPr/>
              <a:t>Evans SR, Rubin D, Follmann D, et al. </a:t>
            </a:r>
            <a:r>
              <a:rPr i="1"/>
              <a:t>Clin Infect Dis</a:t>
            </a:r>
            <a:r>
              <a:rPr/>
              <a:t> 2015;61(5):800–6</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The correction — and why I like it</a:t>
            </a:r>
          </a:p>
        </p:txBody>
      </p:sp>
      <p:sp>
        <p:nvSpPr>
          <p:cNvPr id="3" name="Content Placeholder 2"/>
          <p:cNvSpPr>
            <a:spLocks noGrp="1"/>
          </p:cNvSpPr>
          <p:nvPr>
            <p:ph idx="1"/>
          </p:nvPr>
        </p:nvSpPr>
        <p:spPr/>
        <p:txBody>
          <a:bodyPr/>
          <a:lstStyle/>
          <a:p>
            <a:pPr lvl="0" indent="0" marL="0">
              <a:buNone/>
            </a:pPr>
            <a:r>
              <a:rPr/>
              <a:t>Paper 2 · the erratum, 2023</a:t>
            </a:r>
          </a:p>
          <a:p>
            <a:pPr lvl="0" indent="0" marL="0">
              <a:buNone/>
            </a:pPr>
            <a:r>
              <a:rPr/>
              <a:t>The 2015 illustration reported a DOOR probability of </a:t>
            </a:r>
            <a:r>
              <a:rPr b="1"/>
              <a:t>64.8%</a:t>
            </a:r>
            <a:r>
              <a:rPr/>
              <a:t> — the chance a random patient does better on the new strategy. Seven years later the authors corrected </a:t>
            </a:r>
            <a:r>
              <a:rPr b="1"/>
              <a:t>the confidence interval, not the number</a:t>
            </a:r>
            <a:r>
              <a:rPr/>
              <a:t>: the method was never specified, and the interval was too narrow.</a:t>
            </a:r>
          </a:p>
          <a:p>
            <a:pPr lvl="0" indent="0" marL="0">
              <a:buNone/>
            </a:pPr>
            <a:r>
              <a:rPr b="1"/>
              <a:t>For us:</a:t>
            </a:r>
            <a:r>
              <a:rPr/>
              <a:t> the corrected interval </a:t>
            </a:r>
            <a:r>
              <a:rPr b="1"/>
              <a:t>crosses 50%</a:t>
            </a:r>
            <a:r>
              <a:rPr/>
              <a:t> — with 26 patients, the honest answer was </a:t>
            </a:r>
            <a:r>
              <a:rPr i="1"/>
              <a:t>“we can’t tell yet.”</a:t>
            </a:r>
            <a:r>
              <a:rPr/>
              <a:t> Small denominators earn wide intervals. One more reason to read the </a:t>
            </a:r>
            <a:r>
              <a:rPr b="1"/>
              <a:t>trend</a:t>
            </a:r>
            <a:r>
              <a:rPr/>
              <a:t>, not the point estimate.</a:t>
            </a:r>
          </a:p>
          <a:p>
            <a:pPr lvl="0" indent="0" marL="0">
              <a:buNone/>
            </a:pPr>
            <a:r>
              <a:rPr/>
              <a:t>Correction to Evans et al. </a:t>
            </a:r>
            <a:r>
              <a:rPr i="1"/>
              <a:t>Clin Infect Dis</a:t>
            </a:r>
            <a:r>
              <a:rPr/>
              <a:t> 2023;76(1):182 — interval re-estimated by the method of Halperin et al.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DOOR in the wild — two pneumonia trials</a:t>
            </a:r>
          </a:p>
        </p:txBody>
      </p:sp>
      <p:sp>
        <p:nvSpPr>
          <p:cNvPr id="3" name="Content Placeholder 2"/>
          <p:cNvSpPr>
            <a:spLocks noGrp="1"/>
          </p:cNvSpPr>
          <p:nvPr>
            <p:ph idx="1"/>
          </p:nvPr>
        </p:nvSpPr>
        <p:spPr/>
        <p:txBody>
          <a:bodyPr/>
          <a:lstStyle/>
          <a:p>
            <a:pPr lvl="0" indent="0" marL="0">
              <a:buNone/>
            </a:pPr>
            <a:r>
              <a:rPr/>
              <a:t>Paper 3 · Howard-Anderson et al. 2024</a:t>
            </a:r>
          </a:p>
          <a:p>
            <a:pPr lvl="0" indent="0" marL="0">
              <a:buNone/>
            </a:pPr>
            <a:r>
              <a:rPr/>
              <a:t>A multidisciplinary task force — clinicians, FDA, NIH, industry, </a:t>
            </a:r>
            <a:r>
              <a:rPr b="1"/>
              <a:t>and patient advocates</a:t>
            </a:r>
            <a:r>
              <a:rPr/>
              <a:t> — built a pneumonia DOOR (rank 1 = </a:t>
            </a:r>
            <a:r>
              <a:rPr i="1"/>
              <a:t>alive, no events</a:t>
            </a:r>
            <a:r>
              <a:rPr/>
              <a:t>; ranks 2–4 = alive with 1, 2, 3 events; rank 5 = </a:t>
            </a:r>
            <a:r>
              <a:rPr i="1"/>
              <a:t>death</a:t>
            </a:r>
            <a:r>
              <a:rPr/>
              <a:t>), then re-analyzed two completed RCTs.</a:t>
            </a:r>
          </a:p>
          <a:p>
            <a:pPr lvl="0" indent="0" marL="0">
              <a:buNone/>
            </a:pPr>
            <a:r>
              <a:rPr/>
              <a:t>Both headlines say </a:t>
            </a:r>
            <a:r>
              <a:rPr b="1"/>
              <a:t>“no difference.”</a:t>
            </a:r>
            <a:r>
              <a:rPr/>
              <a:t> Decompose VITAL and the drugs are </a:t>
            </a:r>
            <a:r>
              <a:rPr b="1"/>
              <a:t>not</a:t>
            </a:r>
            <a:r>
              <a:rPr/>
              <a:t> the same: tedizolid did </a:t>
            </a:r>
            <a:r>
              <a:rPr b="1"/>
              <a:t>worse on clinical response</a:t>
            </a:r>
            <a:r>
              <a:rPr/>
              <a:t> (46.3%) and </a:t>
            </a:r>
            <a:r>
              <a:rPr b="1"/>
              <a:t>better on adverse events</a:t>
            </a:r>
            <a:r>
              <a:rPr/>
              <a:t> (52.3%). The two moved in opposite directions and cancelled — into one flat number.</a:t>
            </a:r>
          </a:p>
          <a:p>
            <a:pPr lvl="0" indent="0" marL="0">
              <a:buNone/>
            </a:pPr>
            <a:r>
              <a:rPr/>
              <a:t>Howard-Anderson J, et al. </a:t>
            </a:r>
            <a:r>
              <a:rPr i="1"/>
              <a:t>Moving Beyond Mortality.</a:t>
            </a:r>
            <a:r>
              <a:rPr/>
              <a:t> Clin Infect Dis 2024;78(2):259–68</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Who decides how bad “bad” is?</a:t>
            </a:r>
          </a:p>
        </p:txBody>
      </p:sp>
      <p:sp>
        <p:nvSpPr>
          <p:cNvPr id="3" name="Content Placeholder 2"/>
          <p:cNvSpPr>
            <a:spLocks noGrp="1"/>
          </p:cNvSpPr>
          <p:nvPr>
            <p:ph idx="1"/>
          </p:nvPr>
        </p:nvSpPr>
        <p:spPr/>
        <p:txBody>
          <a:bodyPr/>
          <a:lstStyle/>
          <a:p>
            <a:pPr lvl="0" indent="0" marL="0">
              <a:buNone/>
            </a:pPr>
            <a:r>
              <a:rPr/>
              <a:t>Discussion · from Paper 3</a:t>
            </a:r>
          </a:p>
          <a:p>
            <a:pPr lvl="0" indent="0" marL="0">
              <a:buNone/>
            </a:pPr>
            <a:r>
              <a:rPr/>
              <a:t>DOOR’s </a:t>
            </a:r>
            <a:r>
              <a:rPr b="1"/>
              <a:t>partial credit</a:t>
            </a:r>
            <a:r>
              <a:rPr/>
              <a:t> analysis scores the ranks like a test: best = </a:t>
            </a:r>
            <a:r>
              <a:rPr b="1"/>
              <a:t>100</a:t>
            </a:r>
            <a:r>
              <a:rPr/>
              <a:t>, death = </a:t>
            </a:r>
            <a:r>
              <a:rPr b="1"/>
              <a:t>0</a:t>
            </a:r>
            <a:r>
              <a:rPr/>
              <a:t>, and the middle ranks are worth </a:t>
            </a:r>
            <a:r>
              <a:rPr i="1"/>
              <a:t>whatever you think they’re worth</a:t>
            </a:r>
            <a:r>
              <a:rPr/>
              <a:t> — as long as the order holds. Two people can score the same trial differently and </a:t>
            </a:r>
            <a:r>
              <a:rPr b="1"/>
              <a:t>both be right</a:t>
            </a:r>
            <a:r>
              <a:rPr/>
              <a:t>.</a:t>
            </a:r>
          </a:p>
          <a:p>
            <a:pPr lvl="0" indent="0" marL="0">
              <a:buNone/>
            </a:pPr>
            <a:r>
              <a:rPr b="1"/>
              <a:t>Discussion for this room:</a:t>
            </a:r>
            <a:r>
              <a:rPr/>
              <a:t> on </a:t>
            </a:r>
            <a:r>
              <a:rPr i="1"/>
              <a:t>your</a:t>
            </a:r>
            <a:r>
              <a:rPr/>
              <a:t> operation — is one relapse a 90 or a 30? Is a sale at day 20 nearer success or nearer death? The statistics can’t answer that. </a:t>
            </a:r>
            <a:r>
              <a:rPr b="1"/>
              <a:t>You do.</a:t>
            </a:r>
          </a:p>
          <a:p>
            <a:pPr lvl="0" indent="0" marL="0">
              <a:buNone/>
            </a:pPr>
            <a:r>
              <a:rPr/>
              <a:t>Partial credit analysis — Howard-Anderson et al. 2024. Illustrative scores.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The core insight: a single number lies</a:t>
            </a:r>
          </a:p>
        </p:txBody>
      </p:sp>
      <p:pic>
        <p:nvPicPr>
          <p:cNvPr descr="figs/fig_decomposition.png" id="0" name="Picture 1"/>
          <p:cNvPicPr>
            <a:picLocks noGrp="1" noChangeAspect="1"/>
          </p:cNvPicPr>
          <p:nvPr/>
        </p:nvPicPr>
        <p:blipFill>
          <a:blip r:embed="rId2"/>
          <a:stretch>
            <a:fillRect/>
          </a:stretch>
        </p:blipFill>
        <p:spPr bwMode="auto">
          <a:xfrm>
            <a:off x="558800" y="1193800"/>
            <a:ext cx="80391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Same </a:t>
            </a:r>
            <a:r>
              <a:rPr b="1"/>
              <a:t>66% success</a:t>
            </a:r>
            <a:r>
              <a:rPr/>
              <a:t> — opposite stories. </a:t>
            </a:r>
            <a:r>
              <a:rPr b="1"/>
              <a:t>Death</a:t>
            </a:r>
            <a:r>
              <a:rPr/>
              <a:t> is unambiguously bad; </a:t>
            </a:r>
            <a:r>
              <a:rPr b="1"/>
              <a:t>relapse/aggressive retreatment</a:t>
            </a:r>
            <a:r>
              <a:rPr/>
              <a:t> is ambiguous and warrants a look.</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The retreatment nuance is real science</a:t>
            </a:r>
          </a:p>
        </p:txBody>
      </p:sp>
      <p:sp>
        <p:nvSpPr>
          <p:cNvPr id="3" name="Content Placeholder 2"/>
          <p:cNvSpPr>
            <a:spLocks noGrp="1"/>
          </p:cNvSpPr>
          <p:nvPr>
            <p:ph idx="1" sz="half"/>
          </p:nvPr>
        </p:nvSpPr>
        <p:spPr/>
        <p:txBody>
          <a:bodyPr/>
          <a:lstStyle/>
          <a:p>
            <a:pPr lvl="0" indent="0" marL="0">
              <a:buNone/>
            </a:pPr>
            <a:r>
              <a:rPr b="1"/>
              <a:t>Post-Treatment Interval (PTI)</a:t>
            </a:r>
          </a:p>
          <a:p>
            <a:pPr lvl="0"/>
            <a:r>
              <a:rPr/>
              <a:t>Make animals eligible to re-treat at </a:t>
            </a:r>
            <a:r>
              <a:rPr b="1"/>
              <a:t>3 days</a:t>
            </a:r>
            <a:r>
              <a:rPr/>
              <a:t> → retreatment rates jump</a:t>
            </a:r>
          </a:p>
          <a:p>
            <a:pPr lvl="0"/>
            <a:r>
              <a:rPr/>
              <a:t>The “failure” is partly an </a:t>
            </a:r>
            <a:r>
              <a:rPr b="1"/>
              <a:t>artifact of measuring too soon</a:t>
            </a:r>
          </a:p>
          <a:p>
            <a:pPr lvl="0"/>
            <a:r>
              <a:rPr/>
              <a:t>Retreatment drug-</a:t>
            </a:r>
            <a:r>
              <a:rPr i="1"/>
              <a:t>switching</a:t>
            </a:r>
            <a:r>
              <a:rPr/>
              <a:t> is linked to </a:t>
            </a:r>
            <a:r>
              <a:rPr b="1"/>
              <a:t>more resistant</a:t>
            </a:r>
            <a:r>
              <a:rPr/>
              <a:t> isolates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So: investigate the trend — don’t just read the number.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[13] They named our problem in 2015</a:t>
            </a:r>
          </a:p>
        </p:txBody>
      </p:sp>
      <p:sp>
        <p:nvSpPr>
          <p:cNvPr id="3" name="Content Placeholder 2"/>
          <p:cNvSpPr>
            <a:spLocks noGrp="1"/>
          </p:cNvSpPr>
          <p:nvPr>
            <p:ph idx="1"/>
          </p:nvPr>
        </p:nvSpPr>
        <p:spPr/>
        <p:txBody>
          <a:bodyPr/>
          <a:lstStyle/>
          <a:p>
            <a:pPr lvl="0" indent="0" marL="0">
              <a:buNone/>
            </a:pPr>
            <a:r>
              <a:rPr/>
              <a:t>Discussion · from Paper 1</a:t>
            </a:r>
          </a:p>
          <a:p>
            <a:pPr lvl="0" indent="0" marL="1270000">
              <a:buNone/>
            </a:pPr>
            <a:r>
              <a:rPr sz="2000"/>
              <a:t>Patients may switch therapy because of clinical failure but should not necessarily be considered a clinical failure </a:t>
            </a:r>
            <a:r>
              <a:rPr sz="2000" b="1"/>
              <a:t>because they switch therapy.</a:t>
            </a:r>
          </a:p>
          <a:p>
            <a:pPr lvl="0" indent="0" marL="0">
              <a:buNone/>
            </a:pPr>
            <a:r>
              <a:rPr/>
              <a:t>— Evans et al. 2015, on constructing an overall clinical outcome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Their warning</a:t>
            </a:r>
          </a:p>
          <a:p>
            <a:pPr lvl="0"/>
            <a:r>
              <a:rPr/>
              <a:t>Some endpoints are partly a </a:t>
            </a:r>
            <a:r>
              <a:rPr b="1"/>
              <a:t>clinician decision</a:t>
            </a:r>
            <a:r>
              <a:rPr/>
              <a:t>, not purely a patient outcome</a:t>
            </a:r>
          </a:p>
          <a:p>
            <a:pPr lvl="0"/>
            <a:r>
              <a:rPr/>
              <a:t>That adds a </a:t>
            </a:r>
            <a:r>
              <a:rPr b="1"/>
              <a:t>second source of variation</a:t>
            </a:r>
            <a:r>
              <a:rPr/>
              <a:t> — the person, not the disease</a:t>
            </a:r>
          </a:p>
          <a:p>
            <a:pPr lvl="0"/>
            <a:r>
              <a:rPr/>
              <a:t>Their fix: prefer outcomes that are </a:t>
            </a:r>
            <a:r>
              <a:rPr i="1"/>
              <a:t>“a function of the patient,”</a:t>
            </a:r>
            <a:r>
              <a:rPr/>
              <a:t> or </a:t>
            </a:r>
            <a:r>
              <a:rPr b="1"/>
              <a:t>standardize the decision criteria</a:t>
            </a:r>
          </a:p>
        </p:txBody>
      </p:sp>
      <p:sp>
        <p:nvSpPr>
          <p:cNvPr id="4" name="Content Placeholder 3"/>
          <p:cNvSpPr>
            <a:spLocks noGrp="1"/>
          </p:cNvSpPr>
          <p:nvPr>
            <p:ph idx="2" sz="half"/>
          </p:nvPr>
        </p:nvSpPr>
        <p:spPr/>
        <p:txBody>
          <a:bodyPr/>
          <a:lstStyle/>
          <a:p>
            <a:pPr lvl="0" indent="0" marL="0">
              <a:buNone/>
            </a:pPr>
            <a:r>
              <a:rPr b="1"/>
              <a:t>Our version, word for word</a:t>
            </a:r>
          </a:p>
          <a:p>
            <a:pPr lvl="0"/>
            <a:r>
              <a:rPr b="1"/>
              <a:t>Relapse</a:t>
            </a:r>
            <a:r>
              <a:rPr/>
              <a:t> is a retreatment — and a retreatment is a </a:t>
            </a:r>
            <a:r>
              <a:rPr i="1"/>
              <a:t>person</a:t>
            </a:r>
            <a:r>
              <a:rPr/>
              <a:t> deciding</a:t>
            </a:r>
          </a:p>
          <a:p>
            <a:pPr lvl="0"/>
            <a:r>
              <a:rPr/>
              <a:t>Change the eligibility window and the “failure” rate moves, with no animal changing at all</a:t>
            </a:r>
          </a:p>
          <a:p>
            <a:pPr lvl="0"/>
            <a:r>
              <a:rPr/>
              <a:t>So: </a:t>
            </a:r>
            <a:r>
              <a:rPr b="1"/>
              <a:t>fix the window</a:t>
            </a:r>
            <a:r>
              <a:rPr/>
              <a:t> (that’s the 7 / 30-day setting), then read the trend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Human-medicine statisticians wrote down our PTI problem eleven years ago. </a:t>
            </a:r>
            <a:r>
              <a:rPr b="1"/>
              <a:t>Relapse measures the protocol as much as the animal</a:t>
            </a:r>
            <a:r>
              <a:rPr/>
              <a:t> — which is exactly why it’s the category to </a:t>
            </a:r>
            <a:r>
              <a:rPr i="1"/>
              <a:t>investigate</a:t>
            </a:r>
            <a:r>
              <a:rPr/>
              <a:t>, not to police.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 Context changed the answer</a:t>
            </a:r>
          </a:p>
        </p:txBody>
      </p:sp>
      <p:sp>
        <p:nvSpPr>
          <p:cNvPr id="3" name="Content Placeholder 2"/>
          <p:cNvSpPr>
            <a:spLocks noGrp="1"/>
          </p:cNvSpPr>
          <p:nvPr>
            <p:ph idx="1"/>
          </p:nvPr>
        </p:nvSpPr>
        <p:spPr/>
        <p:txBody>
          <a:bodyPr/>
          <a:lstStyle/>
          <a:p>
            <a:pPr lvl="0" indent="0" marL="0">
              <a:buNone/>
            </a:pPr>
            <a:r>
              <a:rPr/>
              <a:t>Discussion · from Paper 3</a:t>
            </a:r>
          </a:p>
          <a:p>
            <a:pPr lvl="0" indent="0" marL="0">
              <a:buNone/>
            </a:pPr>
            <a:r>
              <a:rPr/>
              <a:t>Same VITAL trial, same two drugs, sliced by </a:t>
            </a:r>
            <a:r>
              <a:rPr b="1"/>
              <a:t>kidney function</a:t>
            </a:r>
            <a:r>
              <a:rPr/>
              <a:t> — and the recommendation flips depending on the patient in front of you.</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And they said so themselves:</a:t>
            </a:r>
            <a:r>
              <a:rPr/>
              <a:t> few patients, many subgroups — </a:t>
            </a:r>
            <a:r>
              <a:rPr i="1"/>
              <a:t>“should be interpreted with caution, viewed as hypothesis generating.”</a:t>
            </a:r>
          </a:p>
        </p:txBody>
      </p:sp>
      <p:sp>
        <p:nvSpPr>
          <p:cNvPr id="4" name="Content Placeholder 3"/>
          <p:cNvSpPr>
            <a:spLocks noGrp="1"/>
          </p:cNvSpPr>
          <p:nvPr>
            <p:ph idx="2" sz="half"/>
          </p:nvPr>
        </p:nvSpPr>
        <p:spPr/>
        <p:txBody>
          <a:bodyPr/>
          <a:lstStyle/>
          <a:p>
            <a:pPr lvl="0" indent="0" marL="0">
              <a:buNone/>
            </a:pPr>
            <a:r>
              <a:rPr b="1"/>
              <a:t>That caution </a:t>
            </a:r>
            <a:r>
              <a:rPr b="1" i="1"/>
              <a:t>is</a:t>
            </a:r>
            <a:r>
              <a:rPr b="1"/>
              <a:t> the discipline.</a:t>
            </a:r>
            <a:r>
              <a:rPr/>
              <a:t> Context tells you which question to ask. It never hands you a target.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Subgroup analysis — Howard-Anderson et al. 2024, Figure 4 (intervals there)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[15] Why trends, within farm context, are the only path to action</a:t>
            </a:r>
          </a:p>
        </p:txBody>
      </p:sp>
      <p:pic>
        <p:nvPicPr>
          <p:cNvPr descr="figs/fig_within_farm.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Red Dairy metritis: success </a:t>
            </a:r>
            <a:r>
              <a:rPr b="1"/>
              <a:t>96% → 89%</a:t>
            </a:r>
            <a:r>
              <a:rPr/>
              <a:t> looks tiny — but it moved from the </a:t>
            </a:r>
            <a:r>
              <a:rPr b="1"/>
              <a:t>top quintile to near the bottom</a:t>
            </a:r>
            <a:r>
              <a:rPr/>
              <a:t>, while disease pressure </a:t>
            </a:r>
            <a:r>
              <a:rPr b="1"/>
              <a:t>collapsed 31 → 6</a:t>
            </a:r>
            <a:r>
              <a:rPr/>
              <a:t>. A prevention win, not neglect. Context + trend → ask </a:t>
            </a:r>
            <a:r>
              <a:rPr i="1"/>
              <a:t>“why is…?”</a:t>
            </a:r>
            <a:r>
              <a:rPr/>
              <a:t>, not </a:t>
            </a:r>
            <a:r>
              <a:rPr i="1"/>
              <a:t>“above or below target.”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[16] The stewardship payoff</a:t>
            </a:r>
          </a:p>
        </p:txBody>
      </p:sp>
      <p:sp>
        <p:nvSpPr>
          <p:cNvPr id="3" name="Content Placeholder 2"/>
          <p:cNvSpPr>
            <a:spLocks noGrp="1"/>
          </p:cNvSpPr>
          <p:nvPr>
            <p:ph idx="1"/>
          </p:nvPr>
        </p:nvSpPr>
        <p:spPr/>
        <p:txBody>
          <a:bodyPr/>
          <a:lstStyle/>
          <a:p>
            <a:pPr lvl="0" indent="0" marL="0">
              <a:buNone/>
            </a:pPr>
            <a:r>
              <a:rPr/>
              <a:t>Effective → use it. Not effective → don’t.</a:t>
            </a:r>
          </a:p>
          <a:p>
            <a:pPr lvl="0" indent="0" marL="0">
              <a:buNone/>
            </a:pPr>
            <a:r>
              <a:rPr/>
              <a:t>All anchored in </a:t>
            </a:r>
            <a:r>
              <a:rPr b="1"/>
              <a:t>animal welfare</a:t>
            </a:r>
            <a:r>
              <a:rPr/>
              <a:t> — the obligation that makes the decision for us.</a:t>
            </a:r>
          </a:p>
          <a:p>
            <a:pPr lvl="0" indent="0" marL="0">
              <a:buNone/>
            </a:pPr>
            <a:r>
              <a:rPr/>
              <a:t>Echoing M. Apley — stewardship must never mean withholding an effective treatment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[17] The engine: the ICASA pipeline &amp; three apps</a:t>
            </a:r>
          </a:p>
        </p:txBody>
      </p:sp>
      <p:sp>
        <p:nvSpPr>
          <p:cNvPr id="3" name="Content Placeholder 2"/>
          <p:cNvSpPr>
            <a:spLocks noGrp="1"/>
          </p:cNvSpPr>
          <p:nvPr>
            <p:ph idx="1"/>
          </p:nvPr>
        </p:nvSpPr>
        <p:spPr/>
        <p:txBody>
          <a:bodyPr/>
          <a:lstStyle/>
          <a:p>
            <a:pPr lvl="0" indent="0" marL="0">
              <a:buNone/>
            </a:pPr>
            <a:r>
              <a:rPr b="1"/>
              <a:t>Use</a:t>
            </a:r>
            <a:r>
              <a:rPr/>
              <a:t> (FeedlotMetrics) → </a:t>
            </a:r>
            <a:r>
              <a:rPr b="1"/>
              <a:t>Outcome</a:t>
            </a:r>
            <a:r>
              <a:rPr/>
              <a:t> (Disease — where we are) → </a:t>
            </a:r>
            <a:r>
              <a:rPr b="1"/>
              <a:t>Value</a:t>
            </a:r>
            <a:r>
              <a:rPr/>
              <a:t> (Econ). Each gives the others meaning.</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[18] Where resistance fits</a:t>
            </a:r>
          </a:p>
        </p:txBody>
      </p:sp>
      <p:sp>
        <p:nvSpPr>
          <p:cNvPr id="3" name="Content Placeholder 2"/>
          <p:cNvSpPr>
            <a:spLocks noGrp="1"/>
          </p:cNvSpPr>
          <p:nvPr>
            <p:ph idx="1" sz="half"/>
          </p:nvPr>
        </p:nvSpPr>
        <p:spPr/>
        <p:txBody>
          <a:bodyPr/>
          <a:lstStyle/>
          <a:p>
            <a:pPr lvl="0"/>
            <a:r>
              <a:rPr/>
              <a:t>Bruce is right: </a:t>
            </a:r>
            <a:r>
              <a:rPr b="1"/>
              <a:t>progress-over-time has been badly under-measured</a:t>
            </a:r>
            <a:r>
              <a:rPr/>
              <a:t> — ARGs and wastewater are a real frontier</a:t>
            </a:r>
          </a:p>
          <a:p>
            <a:pPr lvl="0"/>
            <a:r>
              <a:rPr/>
              <a:t>But resistance tells you a </a:t>
            </a:r>
            <a:r>
              <a:rPr b="1"/>
              <a:t>state</a:t>
            </a:r>
            <a:r>
              <a:rPr/>
              <a:t>; outcomes tell you </a:t>
            </a:r>
            <a:r>
              <a:rPr b="1"/>
              <a:t>what to do</a:t>
            </a:r>
          </a:p>
          <a:p>
            <a:pPr lvl="0"/>
            <a:r>
              <a:rPr/>
              <a:t>Metaphylaxis study: use ↑, health ↑ (BRD </a:t>
            </a:r>
            <a:r>
              <a:rPr b="1"/>
              <a:t>17% vs 40%</a:t>
            </a:r>
            <a:r>
              <a:rPr/>
              <a:t>), resistance </a:t>
            </a:r>
            <a:r>
              <a:rPr b="1"/>
              <a:t>not</a:t>
            </a:r>
            <a:r>
              <a:rPr/>
              <a:t> selected — yet other studies disagree</a:t>
            </a:r>
          </a:p>
        </p:txBody>
      </p:sp>
      <p:sp>
        <p:nvSpPr>
          <p:cNvPr id="4" name="Content Placeholder 3"/>
          <p:cNvSpPr>
            <a:spLocks noGrp="1"/>
          </p:cNvSpPr>
          <p:nvPr>
            <p:ph idx="2" sz="half"/>
          </p:nvPr>
        </p:nvSpPr>
        <p:spPr/>
        <p:txBody>
          <a:bodyPr/>
          <a:lstStyle/>
          <a:p>
            <a:pPr lvl="0" indent="0" marL="0">
              <a:buNone/>
            </a:pPr>
            <a:r>
              <a:rPr/>
              <a:t>Outcomes tell us what to do when the resistance science is still uncertain.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Credille et al. 2024 · handing to Bruce Stewart-Brown &amp; Ken Opengart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 Take this with you</a:t>
            </a:r>
          </a:p>
        </p:txBody>
      </p:sp>
      <p:sp>
        <p:nvSpPr>
          <p:cNvPr id="3" name="Content Placeholder 2"/>
          <p:cNvSpPr>
            <a:spLocks noGrp="1"/>
          </p:cNvSpPr>
          <p:nvPr>
            <p:ph idx="1"/>
          </p:nvPr>
        </p:nvSpPr>
        <p:spPr/>
        <p:txBody>
          <a:bodyPr/>
          <a:lstStyle/>
          <a:p>
            <a:pPr lvl="0" indent="0" marL="0">
              <a:buNone/>
            </a:pPr>
            <a:r>
              <a:rPr/>
              <a:t>Papers · tools · apps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The DOOR papers</a:t>
            </a:r>
          </a:p>
          <a:p>
            <a:pPr lvl="0" indent="-342900" marL="342900">
              <a:buAutoNum type="arabicPeriod"/>
            </a:pPr>
            <a:r>
              <a:rPr/>
              <a:t>Evans SR, et al. </a:t>
            </a:r>
            <a:r>
              <a:rPr i="1"/>
              <a:t>Desirability of Outcome Ranking (DOOR) and Response Adjusted for Duration of Antibiotic Risk (RADAR).</a:t>
            </a:r>
            <a:br/>
            <a:r>
              <a:rPr/>
              <a:t>Clin Infect Dis 2015;61(5):800–6 · PMC4542892</a:t>
            </a:r>
          </a:p>
          <a:p>
            <a:pPr lvl="0" indent="-342900" marL="342900">
              <a:buAutoNum type="arabicPeriod"/>
            </a:pPr>
            <a:r>
              <a:rPr i="1"/>
              <a:t>Correction.</a:t>
            </a:r>
            <a:r>
              <a:rPr/>
              <a:t> Clin Infect Dis 2023;76(1):182</a:t>
            </a:r>
            <a:br/>
            <a:r>
              <a:rPr/>
              <a:t>the CI, re-estimated</a:t>
            </a:r>
          </a:p>
          <a:p>
            <a:pPr lvl="0" indent="-342900" marL="342900">
              <a:buAutoNum type="arabicPeriod"/>
            </a:pPr>
            <a:r>
              <a:rPr/>
              <a:t>Howard-Anderson J, et al. </a:t>
            </a:r>
            <a:r>
              <a:rPr i="1"/>
              <a:t>Moving Beyond Mortality: … DOOR Endpoint for HABP/VABP.</a:t>
            </a:r>
            <a:br/>
            <a:r>
              <a:rPr/>
              <a:t>Clin Infect Dis 2024;78(2):259–68 · PMC10874265 free</a:t>
            </a:r>
          </a:p>
        </p:txBody>
      </p:sp>
      <p:sp>
        <p:nvSpPr>
          <p:cNvPr id="4" name="Content Placeholder 3"/>
          <p:cNvSpPr>
            <a:spLocks noGrp="1"/>
          </p:cNvSpPr>
          <p:nvPr>
            <p:ph idx="2" sz="half"/>
          </p:nvPr>
        </p:nvSpPr>
        <p:spPr/>
        <p:txBody>
          <a:bodyPr/>
          <a:lstStyle/>
          <a:p>
            <a:pPr lvl="0" indent="0" marL="0">
              <a:buNone/>
            </a:pPr>
            <a:r>
              <a:rPr b="1"/>
              <a:t>Run a DOOR analysis yourself</a:t>
            </a:r>
          </a:p>
          <a:p>
            <a:pPr lvl="0" indent="0" marL="0">
              <a:buNone/>
            </a:pPr>
            <a:r>
              <a:rPr>
                <a:hlinkClick r:id="rId2"/>
              </a:rPr>
              <a:t>methods.bsc.gwu.edu</a:t>
            </a:r>
            <a:br/>
            <a:r>
              <a:rPr/>
              <a:t>free web app · from the ARLG</a:t>
            </a:r>
          </a:p>
          <a:p>
            <a:pPr lvl="0" indent="0" marL="0">
              <a:buNone/>
            </a:pPr>
            <a:r>
              <a:rPr b="1"/>
              <a:t>See it in cattle</a:t>
            </a:r>
          </a:p>
          <a:p>
            <a:pPr lvl="0" indent="0" marL="0">
              <a:buNone/>
            </a:pPr>
            <a:r>
              <a:rPr b="1"/>
              <a:t>ICASA_Disease</a:t>
            </a:r>
            <a:r>
              <a:rPr/>
              <a:t> — outcomes</a:t>
            </a:r>
            <a:br/>
            <a:r>
              <a:rPr/>
              <a:t>you set the 7- and 30-day windows</a:t>
            </a:r>
            <a:br/>
            <a:r>
              <a:rPr/>
              <a:t>ICASAProject site → Therapeutic Outcomes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Papers 1 and 3 are the argument; the correction is the humility. All three are in the meeting folder.</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[20]</a:t>
            </a:r>
          </a:p>
        </p:txBody>
      </p:sp>
      <p:sp>
        <p:nvSpPr>
          <p:cNvPr id="3" name="Content Placeholder 2"/>
          <p:cNvSpPr>
            <a:spLocks noGrp="1"/>
          </p:cNvSpPr>
          <p:nvPr>
            <p:ph idx="1"/>
          </p:nvPr>
        </p:nvSpPr>
        <p:spPr/>
        <p:txBody>
          <a:bodyPr/>
          <a:lstStyle/>
          <a:p>
            <a:pPr lvl="0" indent="0" marL="0">
              <a:buNone/>
            </a:pPr>
            <a:r>
              <a:rPr/>
              <a:t>The one thing</a:t>
            </a:r>
          </a:p>
          <a:p>
            <a:pPr lvl="0" indent="0" marL="0">
              <a:buNone/>
            </a:pPr>
            <a:r>
              <a:rPr/>
              <a:t>Trend outcomes over time, within farm context — the only way to drive data-driven, welfare-anchored action.</a:t>
            </a:r>
          </a:p>
          <a:p>
            <a:pPr lvl="0" indent="0" marL="0">
              <a:buNone/>
            </a:pPr>
          </a:p>
          <a:p>
            <a:pPr lvl="0" indent="0" marL="0">
              <a:buNone/>
            </a:pPr>
            <a:r>
              <a:rPr/>
              <a:t>Now — </a:t>
            </a:r>
            <a:r>
              <a:rPr b="1"/>
              <a:t>Bruce Stewart-Brown &amp; Ken Opengart</a:t>
            </a:r>
            <a:r>
              <a:rPr/>
              <a:t> on how outcomes are measured in poultry.</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[21] Why we do this</a:t>
            </a:r>
          </a:p>
        </p:txBody>
      </p:sp>
      <p:sp>
        <p:nvSpPr>
          <p:cNvPr id="3" name="Content Placeholder 2"/>
          <p:cNvSpPr>
            <a:spLocks noGrp="1"/>
          </p:cNvSpPr>
          <p:nvPr>
            <p:ph idx="1"/>
          </p:nvPr>
        </p:nvSpPr>
        <p:spPr/>
        <p:txBody>
          <a:bodyPr/>
          <a:lstStyle/>
          <a:p>
            <a:pPr lvl="0" indent="0" marL="0">
              <a:buNone/>
            </a:pPr>
            <a:r>
              <a:rPr/>
              <a:t>Where this started</a:t>
            </a:r>
          </a:p>
          <a:p>
            <a:pPr lvl="0"/>
            <a:r>
              <a:rPr/>
              <a:t>Respect for the </a:t>
            </a:r>
            <a:r>
              <a:rPr b="1"/>
              <a:t>power of effective antimicrobials</a:t>
            </a:r>
          </a:p>
          <a:p>
            <a:pPr lvl="0"/>
            <a:r>
              <a:rPr/>
              <a:t>A drive to keep them working — for the animals that need them</a:t>
            </a:r>
          </a:p>
          <a:p>
            <a:pPr lvl="0"/>
            <a:r>
              <a:rPr/>
              <a:t>Stewardship = </a:t>
            </a:r>
            <a:r>
              <a:rPr b="1"/>
              <a:t>protecting efficacy</a:t>
            </a:r>
            <a:r>
              <a:rPr/>
              <a:t>, not just cutting use</a:t>
            </a:r>
          </a:p>
          <a:p>
            <a:pPr lvl="0" indent="0" marL="1270000">
              <a:buNone/>
            </a:pPr>
            <a:r>
              <a:rPr sz="2000"/>
              <a:t>If antimicrobial stewardship is perceived as </a:t>
            </a:r>
            <a:r>
              <a:rPr sz="2000" i="1"/>
              <a:t>not treating a diseased animal when an antimicrobial would be effective</a:t>
            </a:r>
            <a:r>
              <a:rPr sz="2000"/>
              <a:t>, we are probably done.</a:t>
            </a:r>
          </a:p>
          <a:p>
            <a:pPr lvl="0" indent="0" marL="0">
              <a:buNone/>
            </a:pPr>
            <a:r>
              <a:rPr/>
              <a:t>— M. Apley, </a:t>
            </a:r>
            <a:r>
              <a:rPr i="1"/>
              <a:t>Monitoring our way to stewardship?</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Bovine Therapeutic Outcomes</dc:title>
  <dc:creator/>
  <cp:keywords/>
  <dcterms:created xsi:type="dcterms:W3CDTF">2026-07-17T03:49:56Z</dcterms:created>
  <dcterms:modified xsi:type="dcterms:W3CDTF">2026-07-17T03:49:56Z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
  </property>
  <property fmtid="{D5CDD505-2E9C-101B-9397-08002B2CF9AE}" pid="4" name="engines">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Are they really needed? How do we calculate them?</vt:lpwstr>
  </property>
  <property fmtid="{D5CDD505-2E9C-101B-9397-08002B2CF9AE}" pid="10" name="toc-title">
    <vt:lpwstr>Table of contents</vt:lpwstr>
  </property>
</Properties>
</file>